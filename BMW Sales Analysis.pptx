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yn rabadi" userId="848cd29e17018a2c" providerId="LiveId" clId="{19BF5B58-B1B4-48E8-B517-B968EE4F57AF}"/>
    <pc:docChg chg="modSld">
      <pc:chgData name="jocelyn rabadi" userId="848cd29e17018a2c" providerId="LiveId" clId="{19BF5B58-B1B4-48E8-B517-B968EE4F57AF}" dt="2026-05-17T07:40:05.291" v="23" actId="20577"/>
      <pc:docMkLst>
        <pc:docMk/>
      </pc:docMkLst>
      <pc:sldChg chg="modSp mod">
        <pc:chgData name="jocelyn rabadi" userId="848cd29e17018a2c" providerId="LiveId" clId="{19BF5B58-B1B4-48E8-B517-B968EE4F57AF}" dt="2026-05-16T19:51:49.270" v="4" actId="14100"/>
        <pc:sldMkLst>
          <pc:docMk/>
          <pc:sldMk cId="0" sldId="256"/>
        </pc:sldMkLst>
        <pc:picChg chg="mod">
          <ac:chgData name="jocelyn rabadi" userId="848cd29e17018a2c" providerId="LiveId" clId="{19BF5B58-B1B4-48E8-B517-B968EE4F57AF}" dt="2026-05-16T19:51:49.270" v="4" actId="14100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jocelyn rabadi" userId="848cd29e17018a2c" providerId="LiveId" clId="{19BF5B58-B1B4-48E8-B517-B968EE4F57AF}" dt="2026-05-16T19:52:00.621" v="6" actId="20577"/>
        <pc:sldMkLst>
          <pc:docMk/>
          <pc:sldMk cId="0" sldId="257"/>
        </pc:sldMkLst>
        <pc:spChg chg="mod">
          <ac:chgData name="jocelyn rabadi" userId="848cd29e17018a2c" providerId="LiveId" clId="{19BF5B58-B1B4-48E8-B517-B968EE4F57AF}" dt="2026-05-16T19:52:00.621" v="6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jocelyn rabadi" userId="848cd29e17018a2c" providerId="LiveId" clId="{19BF5B58-B1B4-48E8-B517-B968EE4F57AF}" dt="2026-05-17T07:28:07.008" v="22" actId="1036"/>
        <pc:sldMkLst>
          <pc:docMk/>
          <pc:sldMk cId="0" sldId="260"/>
        </pc:sldMkLst>
        <pc:spChg chg="mod">
          <ac:chgData name="jocelyn rabadi" userId="848cd29e17018a2c" providerId="LiveId" clId="{19BF5B58-B1B4-48E8-B517-B968EE4F57AF}" dt="2026-05-17T07:28:07.008" v="22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17.649" v="1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37.095" v="19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40.090" v="20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42.359" v="21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jocelyn rabadi" userId="848cd29e17018a2c" providerId="LiveId" clId="{19BF5B58-B1B4-48E8-B517-B968EE4F57AF}" dt="2026-05-17T07:40:05.291" v="23" actId="20577"/>
        <pc:sldMkLst>
          <pc:docMk/>
          <pc:sldMk cId="0" sldId="262"/>
        </pc:sldMkLst>
        <pc:spChg chg="mod">
          <ac:chgData name="jocelyn rabadi" userId="848cd29e17018a2c" providerId="LiveId" clId="{19BF5B58-B1B4-48E8-B517-B968EE4F57AF}" dt="2026-05-17T07:40:05.291" v="23" actId="20577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jocelyn rabadi" userId="848cd29e17018a2c" providerId="LiveId" clId="{19BF5B58-B1B4-48E8-B517-B968EE4F57AF}" dt="2026-05-17T07:27:07.585" v="17" actId="20577"/>
        <pc:sldMkLst>
          <pc:docMk/>
          <pc:sldMk cId="0" sldId="265"/>
        </pc:sldMkLst>
        <pc:spChg chg="mod">
          <ac:chgData name="jocelyn rabadi" userId="848cd29e17018a2c" providerId="LiveId" clId="{19BF5B58-B1B4-48E8-B517-B968EE4F57AF}" dt="2026-05-17T07:26:56.667" v="9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6:53.492" v="7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6:59.575" v="11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02.336" v="13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07.585" v="17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jocelyn rabadi" userId="848cd29e17018a2c" providerId="LiveId" clId="{19BF5B58-B1B4-48E8-B517-B968EE4F57AF}" dt="2026-05-17T07:27:04.800" v="15" actId="20577"/>
          <ac:spMkLst>
            <pc:docMk/>
            <pc:sldMk cId="0" sldId="265"/>
            <ac:spMk id="2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7 Series</c:v>
                </c:pt>
                <c:pt idx="1">
                  <c:v>i8</c:v>
                </c:pt>
                <c:pt idx="2">
                  <c:v>X1</c:v>
                </c:pt>
                <c:pt idx="3">
                  <c:v>3 Series</c:v>
                </c:pt>
                <c:pt idx="4">
                  <c:v>i3</c:v>
                </c:pt>
                <c:pt idx="5">
                  <c:v>5 Series</c:v>
                </c:pt>
                <c:pt idx="6">
                  <c:v>M5</c:v>
                </c:pt>
                <c:pt idx="7">
                  <c:v>X3</c:v>
                </c:pt>
                <c:pt idx="8">
                  <c:v>X5</c:v>
                </c:pt>
                <c:pt idx="9">
                  <c:v>X6</c:v>
                </c:pt>
                <c:pt idx="10">
                  <c:v>M3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11.8</c:v>
                </c:pt>
                <c:pt idx="2">
                  <c:v>11.6</c:v>
                </c:pt>
                <c:pt idx="3">
                  <c:v>11.5</c:v>
                </c:pt>
                <c:pt idx="4">
                  <c:v>11.4</c:v>
                </c:pt>
                <c:pt idx="5">
                  <c:v>11.3</c:v>
                </c:pt>
                <c:pt idx="6">
                  <c:v>11.2</c:v>
                </c:pt>
                <c:pt idx="7">
                  <c:v>11</c:v>
                </c:pt>
                <c:pt idx="8">
                  <c:v>10.9</c:v>
                </c:pt>
                <c:pt idx="9">
                  <c:v>10.8</c:v>
                </c:pt>
                <c:pt idx="10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2-41E2-BD00-83AF836486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7 Series</c:v>
                </c:pt>
                <c:pt idx="1">
                  <c:v>i8</c:v>
                </c:pt>
                <c:pt idx="2">
                  <c:v>X1</c:v>
                </c:pt>
                <c:pt idx="3">
                  <c:v>3 Series</c:v>
                </c:pt>
                <c:pt idx="4">
                  <c:v>i3</c:v>
                </c:pt>
                <c:pt idx="5">
                  <c:v>5 Series</c:v>
                </c:pt>
                <c:pt idx="6">
                  <c:v>M5</c:v>
                </c:pt>
                <c:pt idx="7">
                  <c:v>X3</c:v>
                </c:pt>
                <c:pt idx="8">
                  <c:v>X5</c:v>
                </c:pt>
                <c:pt idx="9">
                  <c:v>X6</c:v>
                </c:pt>
                <c:pt idx="10">
                  <c:v>M3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11.5</c:v>
                </c:pt>
                <c:pt idx="1">
                  <c:v>11.3</c:v>
                </c:pt>
                <c:pt idx="2">
                  <c:v>11.2</c:v>
                </c:pt>
                <c:pt idx="3">
                  <c:v>11</c:v>
                </c:pt>
                <c:pt idx="4">
                  <c:v>10.9</c:v>
                </c:pt>
                <c:pt idx="5">
                  <c:v>10.8</c:v>
                </c:pt>
                <c:pt idx="6">
                  <c:v>10.7</c:v>
                </c:pt>
                <c:pt idx="7">
                  <c:v>10.5</c:v>
                </c:pt>
                <c:pt idx="8">
                  <c:v>10.4</c:v>
                </c:pt>
                <c:pt idx="9">
                  <c:v>10.3</c:v>
                </c:pt>
                <c:pt idx="1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02-41E2-BD00-83AF836486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8EC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8ECF0"/>
                </a:solidFill>
                <a:latin typeface="Arial"/>
              </a:rPr>
              <a:t>Sales by Region (M)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(Millions)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Asia</c:v>
                </c:pt>
                <c:pt idx="1">
                  <c:v>North America</c:v>
                </c:pt>
                <c:pt idx="2">
                  <c:v>Middle East</c:v>
                </c:pt>
                <c:pt idx="3">
                  <c:v>Europe</c:v>
                </c:pt>
                <c:pt idx="4">
                  <c:v>South America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639</c:v>
                </c:pt>
                <c:pt idx="1">
                  <c:v>626</c:v>
                </c:pt>
                <c:pt idx="2">
                  <c:v>626</c:v>
                </c:pt>
                <c:pt idx="3">
                  <c:v>625</c:v>
                </c:pt>
                <c:pt idx="4">
                  <c:v>619</c:v>
                </c:pt>
                <c:pt idx="5">
                  <c:v>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8C-4A3A-9025-11AA2A85B2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8ECF0"/>
                </a:solidFill>
                <a:latin typeface="Arial"/>
              </a:rPr>
              <a:t>Transmission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DA-45F1-97FB-693DF8D065F7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DA-45F1-97FB-693DF8D065F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DA-45F1-97FB-693DF8D065F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DA-45F1-97FB-693DF8D065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50.09</c:v>
                </c:pt>
                <c:pt idx="1">
                  <c:v>49.91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DA-45F1-97FB-693DF8D065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8EC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8ECF0"/>
                </a:solidFill>
                <a:latin typeface="Arial"/>
              </a:rPr>
              <a:t>Annual Sales Volume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16900</c:v>
                </c:pt>
                <c:pt idx="1">
                  <c:v>16700</c:v>
                </c:pt>
                <c:pt idx="2">
                  <c:v>16700</c:v>
                </c:pt>
                <c:pt idx="3">
                  <c:v>17000</c:v>
                </c:pt>
                <c:pt idx="4">
                  <c:v>17000</c:v>
                </c:pt>
                <c:pt idx="5">
                  <c:v>16900</c:v>
                </c:pt>
                <c:pt idx="6">
                  <c:v>16400</c:v>
                </c:pt>
                <c:pt idx="7">
                  <c:v>16700</c:v>
                </c:pt>
                <c:pt idx="8">
                  <c:v>17000</c:v>
                </c:pt>
                <c:pt idx="9">
                  <c:v>17100</c:v>
                </c:pt>
                <c:pt idx="10">
                  <c:v>16500</c:v>
                </c:pt>
                <c:pt idx="11">
                  <c:v>17900</c:v>
                </c:pt>
                <c:pt idx="12">
                  <c:v>17500</c:v>
                </c:pt>
                <c:pt idx="13">
                  <c:v>16300</c:v>
                </c:pt>
                <c:pt idx="14">
                  <c:v>17500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94-4D83-BE86-2089E6602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8ECF0"/>
                </a:solidFill>
                <a:latin typeface="Arial"/>
              </a:rPr>
              <a:t>Average Price (USD)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USD</c:v>
                </c:pt>
              </c:strCache>
            </c:strRef>
          </c:tx>
          <c:spPr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75200</c:v>
                </c:pt>
                <c:pt idx="1">
                  <c:v>75100</c:v>
                </c:pt>
                <c:pt idx="2">
                  <c:v>75000</c:v>
                </c:pt>
                <c:pt idx="3">
                  <c:v>75000</c:v>
                </c:pt>
                <c:pt idx="4">
                  <c:v>74700</c:v>
                </c:pt>
                <c:pt idx="5">
                  <c:v>74500</c:v>
                </c:pt>
                <c:pt idx="6">
                  <c:v>74100</c:v>
                </c:pt>
                <c:pt idx="7">
                  <c:v>75500</c:v>
                </c:pt>
                <c:pt idx="8">
                  <c:v>75450</c:v>
                </c:pt>
                <c:pt idx="9">
                  <c:v>75200</c:v>
                </c:pt>
                <c:pt idx="10">
                  <c:v>75100</c:v>
                </c:pt>
                <c:pt idx="11">
                  <c:v>75200</c:v>
                </c:pt>
                <c:pt idx="12">
                  <c:v>75100</c:v>
                </c:pt>
                <c:pt idx="13">
                  <c:v>75200</c:v>
                </c:pt>
                <c:pt idx="14">
                  <c:v>75200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BEA-499A-9CA8-60D053C2D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73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2251.jpe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C1A3A">
              <a:alpha val="90000"/>
            </a:srgbClr>
          </a:solidFill>
          <a:ln w="12700">
            <a:solidFill>
              <a:srgbClr val="0C1A3A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76200"/>
            <a:ext cx="2293621" cy="1661160"/>
          </a:xfrm>
          <a:prstGeom prst="ellipse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Yarmouk University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576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and Information Technology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365760" y="2651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365760" y="3246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9" name="Shape 5"/>
          <p:cNvSpPr/>
          <p:nvPr/>
        </p:nvSpPr>
        <p:spPr>
          <a:xfrm>
            <a:off x="365760" y="3977640"/>
            <a:ext cx="4389120" cy="82296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460 — Data Visualization   </a:t>
            </a: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Zeyad Hailat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460 — Data Visualization  |  Dr. Zeyad Hailat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4023360" cy="82296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Jocelyn Nidal Al-Rabadi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ID: 2023805011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234440"/>
            <a:ext cx="4023360" cy="82296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Mohammad Al-Zreigat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ID: 2023905085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2194560"/>
            <a:ext cx="4023360" cy="82296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Suwar Mohammad Othman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ID: 2022905045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2194560"/>
            <a:ext cx="4023360" cy="82296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23774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Jumana Ammar Obaidat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ID: 2022905020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coverage, and structure of the BMW Sales dataset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3840480" cy="5486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2010–2024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828800"/>
            <a:ext cx="3840480" cy="5486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103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514600"/>
            <a:ext cx="3840480" cy="5486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788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y0ussefkandil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200400"/>
            <a:ext cx="3840480" cy="5486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2024 (15 years)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3886200"/>
            <a:ext cx="3840480" cy="5486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160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1143000"/>
            <a:ext cx="4251960" cy="36576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63440" y="1664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(3 Series, 5 Series, 7 Series, i3, i8, M3, M5, X1, X3, X5, X6)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63440" y="20482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(2010–2024)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24323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(USD)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63440" y="2816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(Hybrid, Petrol, Electric, Diesel)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63440" y="3200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(Automatic, Manual)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63440" y="3584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(Blue, White, Black, Red, Silver, Grey)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663440" y="39684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(KM)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63440" y="43525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&amp; Region (Asia, Europe, North America, Middle East, Africa, South America)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KPIs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— Overview Page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965960" cy="13716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97280"/>
            <a:ext cx="19659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2010–2024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0592" y="1097280"/>
            <a:ext cx="1965960" cy="13716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097280"/>
            <a:ext cx="19659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42032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42032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State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42032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High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26864" y="1097280"/>
            <a:ext cx="1965960" cy="13716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26864" y="1097280"/>
            <a:ext cx="19659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304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18304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Transmission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18304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Sold Type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03136" y="1097280"/>
            <a:ext cx="1965960" cy="13716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03136" y="1097280"/>
            <a:ext cx="19659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94576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94576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94576" y="2057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 units — Leading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2606040"/>
            <a:ext cx="8595360" cy="20116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34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by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volume and sales classification (High/Low) by vehicle model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2120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1097280"/>
            <a:ext cx="3200400" cy="7772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064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Series Leads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06440" y="14447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sales across all years (24M units combined)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669280" y="2011680"/>
            <a:ext cx="3200400" cy="7772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0644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 Gap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06440" y="2359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vs. Low classification shows minimal spread across all models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669280" y="2926080"/>
            <a:ext cx="3200400" cy="7772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0644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Electric Models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06440" y="3273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and i8 rank among top 5 despite premium pricing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0" y="3840480"/>
            <a:ext cx="3200400" cy="7772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X-Series Strong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06440" y="4187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X1, X3, X5, X6 collectively dominate the SUV segment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Color &amp; Fuel Type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pricing by color, fuel type distribution, and mileage correlation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8595360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45312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Color: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colors avg ~$75K — minimal variation    </a:t>
            </a: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Fuel Distribution: </a:t>
            </a: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leads, followed closely by Petrol, Electric, Diesel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&amp; Transmission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breakdown by global region and transmission type preferences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486400" y="1097280"/>
          <a:ext cx="33832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5486400" y="3657600"/>
            <a:ext cx="3383280" cy="91440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62356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Top Region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regions nearly equal (~618–639M).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leads with 639M units sold.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&amp; Price Trends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performance from 2010 to 2024 — volume and average pricing over time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09728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Deep Dive — Interactive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price trends, engine size filter, and sales volume — Power BI interactive page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859536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572000"/>
            <a:ext cx="90932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Series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229360" y="4572000"/>
            <a:ext cx="909320" cy="182880"/>
          </a:xfrm>
          <a:prstGeom prst="rect">
            <a:avLst/>
          </a:prstGeom>
          <a:solidFill>
            <a:srgbClr val="112249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2936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Series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184400" y="4572000"/>
            <a:ext cx="90932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8440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Series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39440" y="4572000"/>
            <a:ext cx="909320" cy="182880"/>
          </a:xfrm>
          <a:prstGeom prst="rect">
            <a:avLst/>
          </a:prstGeom>
          <a:solidFill>
            <a:srgbClr val="112249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3944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094480" y="4572000"/>
            <a:ext cx="90932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9448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i8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49520" y="4572000"/>
            <a:ext cx="909320" cy="182880"/>
          </a:xfrm>
          <a:prstGeom prst="rect">
            <a:avLst/>
          </a:prstGeom>
          <a:solidFill>
            <a:srgbClr val="112249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4952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004560" y="4572000"/>
            <a:ext cx="90932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0456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959600" y="4572000"/>
            <a:ext cx="909320" cy="182880"/>
          </a:xfrm>
          <a:prstGeom prst="rect">
            <a:avLst/>
          </a:prstGeom>
          <a:solidFill>
            <a:srgbClr val="112249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5960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914640" y="4572000"/>
            <a:ext cx="90932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0C1A3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14640" y="4572000"/>
            <a:ext cx="909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Sales Analysis  |  Yarmouk University  |  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943600" y="91440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ellipse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0972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insights from the BMW Sales 2010–2024 dataset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274320" y="114300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1148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Stable Pricing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BMW price remains steady at ~$74K–$75.5K across all models and years, reflecting premium brand consistency.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0060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 Series Dominates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0060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Series leads all models in total sales (24M units), followed closely by i8 and X1 at 23M each.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11480" y="2404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Balanced Global Reach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regions show near-equal sales (618M–639M), with Asia at the top — demonstrating BMW's truly global appeal.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233172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00600" y="2404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Transmission Split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006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(50.09%) narrowly edges out Manual (49.91%) — both transmission types remain highly popular.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352044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1148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Diverse Fuel Types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148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fuel types (Hybrid, Petrol, Electric, Diesel) hold approximately equal market share (~25% each).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63440" y="3520440"/>
            <a:ext cx="4160520" cy="1005840"/>
          </a:xfrm>
          <a:prstGeom prst="rect">
            <a:avLst/>
          </a:prstGeom>
          <a:solidFill>
            <a:srgbClr val="112249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80060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Peak 2022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0060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peaked around 2022 at ~17.9M units before normalizing, indicating post-pandemic demand surge.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BMW Sales Analysis  |  Yarmouk University  |  DA 460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709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jocelyn rabadi</cp:lastModifiedBy>
  <cp:revision>1</cp:revision>
  <dcterms:created xsi:type="dcterms:W3CDTF">2026-05-16T19:38:10Z</dcterms:created>
  <dcterms:modified xsi:type="dcterms:W3CDTF">2026-05-17T07:40:06Z</dcterms:modified>
</cp:coreProperties>
</file>